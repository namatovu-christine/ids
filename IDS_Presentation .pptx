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3" r:id="rId6"/>
    <p:sldId id="261" r:id="rId7"/>
    <p:sldId id="265" r:id="rId8"/>
    <p:sldId id="266" r:id="rId9"/>
    <p:sldId id="271" r:id="rId10"/>
    <p:sldId id="272" r:id="rId11"/>
    <p:sldId id="268" r:id="rId12"/>
  </p:sldIdLst>
  <p:sldSz cx="18288000" cy="10287000"/>
  <p:notesSz cx="6858000" cy="9144000"/>
  <p:embeddedFontLst>
    <p:embeddedFont>
      <p:font typeface="DM Sans" pitchFamily="2" charset="0"/>
      <p:regular r:id="rId13"/>
    </p:embeddedFont>
    <p:embeddedFont>
      <p:font typeface="DM Sans Bold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2" autoAdjust="0"/>
  </p:normalViewPr>
  <p:slideViewPr>
    <p:cSldViewPr>
      <p:cViewPr varScale="1">
        <p:scale>
          <a:sx n="44" d="100"/>
          <a:sy n="44" d="100"/>
        </p:scale>
        <p:origin x="40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905828" y="-67524"/>
            <a:ext cx="6802445" cy="10392624"/>
          </a:xfrm>
          <a:custGeom>
            <a:avLst/>
            <a:gdLst/>
            <a:ahLst/>
            <a:cxnLst/>
            <a:rect l="l" t="t" r="r" b="b"/>
            <a:pathLst>
              <a:path w="6802445" h="10392624">
                <a:moveTo>
                  <a:pt x="0" y="0"/>
                </a:moveTo>
                <a:lnTo>
                  <a:pt x="6802444" y="0"/>
                </a:lnTo>
                <a:lnTo>
                  <a:pt x="6802444" y="10392624"/>
                </a:lnTo>
                <a:lnTo>
                  <a:pt x="0" y="10392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3384057"/>
            <a:ext cx="12700992" cy="272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99"/>
              </a:lnSpc>
            </a:pPr>
            <a:r>
              <a:rPr lang="en-US" sz="99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Project: Intrusion Detection System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6012957"/>
            <a:ext cx="8282211" cy="1052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Machine learning based network security using the NSL-KDD dataset.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951595"/>
            <a:ext cx="260999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1" spc="360" dirty="0">
                <a:solidFill>
                  <a:srgbClr val="BFA8EF"/>
                </a:solidFill>
                <a:latin typeface="DM Sans Bold"/>
                <a:ea typeface="DM Sans Bold"/>
                <a:cs typeface="DM Sans Bold"/>
                <a:sym typeface="DM Sans Bold"/>
              </a:rPr>
              <a:t>GROUP 8</a:t>
            </a:r>
            <a:endParaRPr lang="en-US" sz="1800" b="1" spc="360" dirty="0">
              <a:solidFill>
                <a:srgbClr val="BFA8E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957684" y="1037133"/>
            <a:ext cx="4366915" cy="6270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1" spc="360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MBARARA UNIVERSITY OF SCIENCE AND TECHNOLOGY</a:t>
            </a:r>
            <a:endParaRPr lang="en-US" sz="1800" b="1" spc="360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543871" y="8951595"/>
            <a:ext cx="2747590" cy="627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1" spc="360">
                <a:solidFill>
                  <a:srgbClr val="BFA8EF"/>
                </a:solidFill>
                <a:latin typeface="DM Sans Bold"/>
                <a:ea typeface="DM Sans Bold"/>
                <a:cs typeface="DM Sans Bold"/>
                <a:sym typeface="DM Sans Bold"/>
              </a:rPr>
              <a:t>DECEMBER</a:t>
            </a:r>
            <a:r>
              <a:rPr lang="en-US" sz="1800" b="1" spc="360">
                <a:solidFill>
                  <a:srgbClr val="BFA8E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1800" b="1" spc="360" dirty="0">
                <a:solidFill>
                  <a:srgbClr val="BFA8EF"/>
                </a:solidFill>
                <a:latin typeface="DM Sans Bold"/>
                <a:ea typeface="DM Sans Bold"/>
                <a:cs typeface="DM Sans Bold"/>
                <a:sym typeface="DM Sans Bold"/>
              </a:rPr>
              <a:t>8</a:t>
            </a:r>
            <a:r>
              <a:rPr lang="en-US" sz="1800" b="1" spc="360">
                <a:solidFill>
                  <a:srgbClr val="BFA8EF"/>
                </a:solidFill>
                <a:latin typeface="DM Sans Bold"/>
                <a:ea typeface="DM Sans Bold"/>
                <a:cs typeface="DM Sans Bold"/>
                <a:sym typeface="DM Sans Bold"/>
              </a:rPr>
              <a:t>, </a:t>
            </a:r>
            <a:r>
              <a:rPr lang="en-US" sz="1800" b="1" spc="360" dirty="0">
                <a:solidFill>
                  <a:srgbClr val="BFA8EF"/>
                </a:solidFill>
                <a:latin typeface="DM Sans Bold"/>
                <a:ea typeface="DM Sans Bold"/>
                <a:cs typeface="DM Sans Bold"/>
                <a:sym typeface="DM Sans Bold"/>
              </a:rPr>
              <a:t>2025</a:t>
            </a:r>
          </a:p>
        </p:txBody>
      </p:sp>
      <p:pic>
        <p:nvPicPr>
          <p:cNvPr id="12" name="Picture 11" descr="A logo of a university of science and technology&#10;&#10;AI-generated content may be incorrect.">
            <a:extLst>
              <a:ext uri="{FF2B5EF4-FFF2-40B4-BE49-F238E27FC236}">
                <a16:creationId xmlns:a16="http://schemas.microsoft.com/office/drawing/2014/main" id="{9C846257-F406-4CA3-3EDB-0BA7DECC5A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793037"/>
            <a:ext cx="1409700" cy="14097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45899" y="1456145"/>
            <a:ext cx="5074853" cy="791385"/>
            <a:chOff x="0" y="0"/>
            <a:chExt cx="1336587" cy="2084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6587" cy="208431"/>
            </a:xfrm>
            <a:custGeom>
              <a:avLst/>
              <a:gdLst/>
              <a:ahLst/>
              <a:cxnLst/>
              <a:rect l="l" t="t" r="r" b="b"/>
              <a:pathLst>
                <a:path w="1336587" h="208431">
                  <a:moveTo>
                    <a:pt x="104215" y="0"/>
                  </a:moveTo>
                  <a:lnTo>
                    <a:pt x="1232371" y="0"/>
                  </a:lnTo>
                  <a:cubicBezTo>
                    <a:pt x="1289928" y="0"/>
                    <a:pt x="1336587" y="46659"/>
                    <a:pt x="1336587" y="104215"/>
                  </a:cubicBezTo>
                  <a:lnTo>
                    <a:pt x="1336587" y="104215"/>
                  </a:lnTo>
                  <a:cubicBezTo>
                    <a:pt x="1336587" y="161772"/>
                    <a:pt x="1289928" y="208431"/>
                    <a:pt x="1232371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336587" cy="275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Contents Table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298635" y="5491791"/>
            <a:ext cx="4462929" cy="104454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200"/>
              </a:lnSpc>
            </a:pPr>
            <a:endParaRPr lang="en-US" sz="30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" name="Freeform 8"/>
          <p:cNvSpPr/>
          <p:nvPr/>
        </p:nvSpPr>
        <p:spPr>
          <a:xfrm flipV="1">
            <a:off x="0" y="0"/>
            <a:ext cx="6695902" cy="10287000"/>
          </a:xfrm>
          <a:custGeom>
            <a:avLst/>
            <a:gdLst/>
            <a:ahLst/>
            <a:cxnLst/>
            <a:rect l="l" t="t" r="r" b="b"/>
            <a:pathLst>
              <a:path w="6695902" h="10287000">
                <a:moveTo>
                  <a:pt x="0" y="10287000"/>
                </a:moveTo>
                <a:lnTo>
                  <a:pt x="6695902" y="10287000"/>
                </a:lnTo>
                <a:lnTo>
                  <a:pt x="6695902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176808" y="4294054"/>
            <a:ext cx="4766791" cy="12477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Content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45899" y="2461265"/>
            <a:ext cx="5301183" cy="447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Problem Statement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Dataset used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 Exploration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 Preprocessing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Model training and Evolution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Measuring  the effect of PCA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Comparative evaluation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90800" y="2400300"/>
            <a:ext cx="11963400" cy="1243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Problem Statement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90800" y="5829300"/>
            <a:ext cx="13331621" cy="2978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The project aims to build a model using an SVM classifier to distinguish between normal network packets and attack packets.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It introduces Intrusion Detection differentiating between Host Based IDS and Network-Based IDS and explains detection methods like signature-based and Anomaly based Approaches </a:t>
            </a: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7356D0E5-EBE6-A9A4-D567-9ACADFBB8BAC}"/>
              </a:ext>
            </a:extLst>
          </p:cNvPr>
          <p:cNvSpPr/>
          <p:nvPr/>
        </p:nvSpPr>
        <p:spPr>
          <a:xfrm>
            <a:off x="381000" y="-133350"/>
            <a:ext cx="13624697" cy="9182100"/>
          </a:xfrm>
          <a:custGeom>
            <a:avLst/>
            <a:gdLst/>
            <a:ahLst/>
            <a:cxnLst/>
            <a:rect l="l" t="t" r="r" b="b"/>
            <a:pathLst>
              <a:path w="15638093" h="16831607">
                <a:moveTo>
                  <a:pt x="0" y="0"/>
                </a:moveTo>
                <a:lnTo>
                  <a:pt x="15638093" y="0"/>
                </a:lnTo>
                <a:lnTo>
                  <a:pt x="15638093" y="16831606"/>
                </a:lnTo>
                <a:lnTo>
                  <a:pt x="0" y="16831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15952" y="5739163"/>
            <a:ext cx="18303952" cy="3551"/>
          </a:xfrm>
          <a:prstGeom prst="line">
            <a:avLst/>
          </a:prstGeom>
          <a:ln w="38100" cap="flat">
            <a:solidFill>
              <a:srgbClr val="9B6A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979586" y="5297200"/>
            <a:ext cx="838723" cy="83872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6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76290" y="3962789"/>
            <a:ext cx="4876800" cy="1435141"/>
            <a:chOff x="682739" y="-36076"/>
            <a:chExt cx="588882" cy="208431"/>
          </a:xfrm>
        </p:grpSpPr>
        <p:sp>
          <p:nvSpPr>
            <p:cNvPr id="7" name="Freeform 7"/>
            <p:cNvSpPr/>
            <p:nvPr/>
          </p:nvSpPr>
          <p:spPr>
            <a:xfrm>
              <a:off x="745620" y="-36076"/>
              <a:ext cx="489598" cy="208431"/>
            </a:xfrm>
            <a:custGeom>
              <a:avLst/>
              <a:gdLst/>
              <a:ahLst/>
              <a:cxnLst/>
              <a:rect l="l" t="t" r="r" b="b"/>
              <a:pathLst>
                <a:path w="489598" h="208431">
                  <a:moveTo>
                    <a:pt x="104215" y="0"/>
                  </a:moveTo>
                  <a:lnTo>
                    <a:pt x="385382" y="0"/>
                  </a:lnTo>
                  <a:cubicBezTo>
                    <a:pt x="442939" y="0"/>
                    <a:pt x="489598" y="46659"/>
                    <a:pt x="489598" y="104215"/>
                  </a:cubicBezTo>
                  <a:lnTo>
                    <a:pt x="489598" y="104215"/>
                  </a:lnTo>
                  <a:cubicBezTo>
                    <a:pt x="489598" y="161772"/>
                    <a:pt x="442939" y="208431"/>
                    <a:pt x="385382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82739" y="-18410"/>
              <a:ext cx="588882" cy="1839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1.  Data Exploration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76288" y="5319801"/>
            <a:ext cx="838723" cy="83872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6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72989" y="5342403"/>
            <a:ext cx="838723" cy="838723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6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469691" y="5365004"/>
            <a:ext cx="838723" cy="838723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6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67714" y="7714740"/>
            <a:ext cx="3240861" cy="1325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The KDDTrain+.txt dataset is loaded into pandas Data Frame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52126" y="6385491"/>
            <a:ext cx="2048321" cy="82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Initial Inspection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25709" y="7529112"/>
            <a:ext cx="3240861" cy="1325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The first few rows are displayed and column names are assigned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57959" y="6533789"/>
            <a:ext cx="3240861" cy="417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Data Information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87041" y="6981329"/>
            <a:ext cx="3868781" cy="3121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Data_train.info() </a:t>
            </a:r>
          </a:p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Shows that the dataset contains 125972 entries and 43 columns, with a mix of numerical and object(categorical) data types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068301" y="6361692"/>
            <a:ext cx="3240861" cy="828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Outcome Transformative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454846" y="7314481"/>
            <a:ext cx="4029689" cy="2672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The outcome column is transformed for binary classification: ”normal” remains “normal” and all other attack types are grouped as “attack”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238811" y="1439220"/>
            <a:ext cx="9810378" cy="2461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Methodology used</a:t>
            </a:r>
          </a:p>
        </p:txBody>
      </p:sp>
      <p:sp>
        <p:nvSpPr>
          <p:cNvPr id="27" name="TextBox 29">
            <a:extLst>
              <a:ext uri="{FF2B5EF4-FFF2-40B4-BE49-F238E27FC236}">
                <a16:creationId xmlns:a16="http://schemas.microsoft.com/office/drawing/2014/main" id="{9596F654-7D7D-AE90-B6CC-496C42E3CE02}"/>
              </a:ext>
            </a:extLst>
          </p:cNvPr>
          <p:cNvSpPr txBox="1"/>
          <p:nvPr/>
        </p:nvSpPr>
        <p:spPr>
          <a:xfrm>
            <a:off x="1034055" y="6442164"/>
            <a:ext cx="2048321" cy="82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Data loading</a:t>
            </a:r>
          </a:p>
        </p:txBody>
      </p:sp>
      <p:sp>
        <p:nvSpPr>
          <p:cNvPr id="36" name="Freeform 56">
            <a:extLst>
              <a:ext uri="{FF2B5EF4-FFF2-40B4-BE49-F238E27FC236}">
                <a16:creationId xmlns:a16="http://schemas.microsoft.com/office/drawing/2014/main" id="{764044F9-2C91-A1FA-D460-DCFD2EFBFFC6}"/>
              </a:ext>
            </a:extLst>
          </p:cNvPr>
          <p:cNvSpPr/>
          <p:nvPr/>
        </p:nvSpPr>
        <p:spPr>
          <a:xfrm rot="5400000">
            <a:off x="5265830" y="3965491"/>
            <a:ext cx="1429736" cy="1429736"/>
          </a:xfrm>
          <a:custGeom>
            <a:avLst/>
            <a:gdLst/>
            <a:ahLst/>
            <a:cxnLst/>
            <a:rect l="l" t="t" r="r" b="b"/>
            <a:pathLst>
              <a:path w="1429736" h="1429736">
                <a:moveTo>
                  <a:pt x="0" y="0"/>
                </a:moveTo>
                <a:lnTo>
                  <a:pt x="1429736" y="0"/>
                </a:lnTo>
                <a:lnTo>
                  <a:pt x="1429736" y="1429736"/>
                </a:lnTo>
                <a:lnTo>
                  <a:pt x="0" y="1429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46520" y="266295"/>
            <a:ext cx="1571938" cy="1571938"/>
          </a:xfrm>
          <a:custGeom>
            <a:avLst/>
            <a:gdLst/>
            <a:ahLst/>
            <a:cxnLst/>
            <a:rect l="l" t="t" r="r" b="b"/>
            <a:pathLst>
              <a:path w="1571938" h="1571938">
                <a:moveTo>
                  <a:pt x="0" y="0"/>
                </a:moveTo>
                <a:lnTo>
                  <a:pt x="1571938" y="0"/>
                </a:lnTo>
                <a:lnTo>
                  <a:pt x="1571938" y="1571938"/>
                </a:lnTo>
                <a:lnTo>
                  <a:pt x="0" y="1571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248157" y="3438382"/>
            <a:ext cx="1748915" cy="1748915"/>
          </a:xfrm>
          <a:custGeom>
            <a:avLst/>
            <a:gdLst/>
            <a:ahLst/>
            <a:cxnLst/>
            <a:rect l="l" t="t" r="r" b="b"/>
            <a:pathLst>
              <a:path w="1748915" h="1748915">
                <a:moveTo>
                  <a:pt x="0" y="0"/>
                </a:moveTo>
                <a:lnTo>
                  <a:pt x="1748915" y="0"/>
                </a:lnTo>
                <a:lnTo>
                  <a:pt x="1748915" y="1748916"/>
                </a:lnTo>
                <a:lnTo>
                  <a:pt x="0" y="17489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337169" y="6787447"/>
            <a:ext cx="1748553" cy="1462426"/>
          </a:xfrm>
          <a:custGeom>
            <a:avLst/>
            <a:gdLst/>
            <a:ahLst/>
            <a:cxnLst/>
            <a:rect l="l" t="t" r="r" b="b"/>
            <a:pathLst>
              <a:path w="1748553" h="1462426">
                <a:moveTo>
                  <a:pt x="0" y="0"/>
                </a:moveTo>
                <a:lnTo>
                  <a:pt x="1748553" y="0"/>
                </a:lnTo>
                <a:lnTo>
                  <a:pt x="1748553" y="1462426"/>
                </a:lnTo>
                <a:lnTo>
                  <a:pt x="0" y="14624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26883" y="607351"/>
            <a:ext cx="7986251" cy="2461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2.Data Preprocessing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01970" y="634586"/>
            <a:ext cx="5535572" cy="417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Numerical Feature Scaling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11888" y="2409277"/>
            <a:ext cx="7558577" cy="828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Preprocessing Pipeline(preprocess function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75197" y="1171955"/>
            <a:ext cx="4843080" cy="877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RobustScaler applied to handle outliners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43251" y="3237324"/>
            <a:ext cx="7495852" cy="3570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Drops rows with the missing values</a:t>
            </a:r>
          </a:p>
          <a:p>
            <a:pPr marL="342900" indent="-342900" algn="l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Separates numerical and categorical features</a:t>
            </a:r>
          </a:p>
          <a:p>
            <a:pPr marL="342900" indent="-342900" algn="l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Applies RobustScaler to numerical features</a:t>
            </a:r>
          </a:p>
          <a:p>
            <a:pPr marL="342900" indent="-342900" algn="l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Replaces the original columns with scaled ones</a:t>
            </a:r>
          </a:p>
          <a:p>
            <a:pPr marL="342900" indent="-342900" algn="l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Converts outcome to numerical(0/1)</a:t>
            </a:r>
          </a:p>
          <a:p>
            <a:pPr marL="342900" indent="-342900" algn="l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Performs One-hot encoding (protocol_type , service and flag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BFA8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533228" y="6915529"/>
            <a:ext cx="5764171" cy="417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Principal Component Analysis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10802" y="7464869"/>
            <a:ext cx="7860247" cy="22235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Features(X) and targets(y class) for classification,(</a:t>
            </a:r>
            <a:r>
              <a:rPr lang="en-US" sz="24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y_reg</a:t>
            </a: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) for regression are separated</a:t>
            </a:r>
          </a:p>
          <a:p>
            <a:pPr marL="342900" indent="-342900" algn="l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The data is split into training and testing sets</a:t>
            </a:r>
          </a:p>
          <a:p>
            <a:pPr marL="342900" indent="-342900" algn="l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PCA is applied to reduce the dimensionality of features to 20 components reducing them the 122.</a:t>
            </a:r>
          </a:p>
        </p:txBody>
      </p:sp>
      <p:sp>
        <p:nvSpPr>
          <p:cNvPr id="13" name="AutoShape 13"/>
          <p:cNvSpPr/>
          <p:nvPr/>
        </p:nvSpPr>
        <p:spPr>
          <a:xfrm flipH="1">
            <a:off x="8290929" y="-844695"/>
            <a:ext cx="0" cy="11976390"/>
          </a:xfrm>
          <a:prstGeom prst="line">
            <a:avLst/>
          </a:prstGeom>
          <a:ln w="38100" cap="flat">
            <a:solidFill>
              <a:srgbClr val="9B6A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42E72DD9-CD37-B377-61A7-28979FFBC394}"/>
              </a:ext>
            </a:extLst>
          </p:cNvPr>
          <p:cNvSpPr/>
          <p:nvPr/>
        </p:nvSpPr>
        <p:spPr>
          <a:xfrm>
            <a:off x="180644" y="2778495"/>
            <a:ext cx="5860359" cy="8017904"/>
          </a:xfrm>
          <a:custGeom>
            <a:avLst/>
            <a:gdLst/>
            <a:ahLst/>
            <a:cxnLst/>
            <a:rect l="l" t="t" r="r" b="b"/>
            <a:pathLst>
              <a:path w="5860359" h="8017904">
                <a:moveTo>
                  <a:pt x="0" y="0"/>
                </a:moveTo>
                <a:lnTo>
                  <a:pt x="5860360" y="0"/>
                </a:lnTo>
                <a:lnTo>
                  <a:pt x="5860360" y="8017904"/>
                </a:lnTo>
                <a:lnTo>
                  <a:pt x="0" y="80179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8431569" y="1346537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52401" y="2782931"/>
            <a:ext cx="6626283" cy="3680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3. Model Training And Evaluation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19211" y="4339673"/>
            <a:ext cx="8827727" cy="417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Evaluation Metrics: Accuracy, precision, Recall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19210" y="5524500"/>
            <a:ext cx="7201789" cy="40189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Model Explored: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Logistic Regression 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K-Nearest neighbors(KNN)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Naïve Bayes(GaussianNB)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Support Vector Machines(SVM)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Decision Tree Classifier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Random Forest Classifier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XGBoost Regressor(For threat level)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endParaRPr lang="en-US" sz="2499" dirty="0">
              <a:solidFill>
                <a:srgbClr val="BFA8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591800" y="1638300"/>
            <a:ext cx="7075437" cy="1774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69874" lvl="1" algn="l">
              <a:lnSpc>
                <a:spcPts val="3499"/>
              </a:lnSpc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evaluate_classification  function is defined to evaluate models based on accuracy, precision, recall and to display a confusion matrix</a:t>
            </a:r>
          </a:p>
        </p:txBody>
      </p:sp>
      <p:sp>
        <p:nvSpPr>
          <p:cNvPr id="10" name="AutoShape 10"/>
          <p:cNvSpPr/>
          <p:nvPr/>
        </p:nvSpPr>
        <p:spPr>
          <a:xfrm flipH="1">
            <a:off x="7315606" y="-844695"/>
            <a:ext cx="0" cy="11976390"/>
          </a:xfrm>
          <a:prstGeom prst="line">
            <a:avLst/>
          </a:prstGeom>
          <a:ln w="38100" cap="flat">
            <a:solidFill>
              <a:srgbClr val="9B6A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62000" y="419100"/>
            <a:ext cx="15222997" cy="2234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4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Classification Model Performance </a:t>
            </a:r>
          </a:p>
          <a:p>
            <a:pPr algn="l">
              <a:lnSpc>
                <a:spcPts val="9450"/>
              </a:lnSpc>
            </a:pPr>
            <a:r>
              <a:rPr lang="en-US" sz="2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Decision Tree  and Random Forest demonstrated the highest classification Performance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E5FB2D-32DF-884C-7D3D-BAE033A84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08558"/>
              </p:ext>
            </p:extLst>
          </p:nvPr>
        </p:nvGraphicFramePr>
        <p:xfrm>
          <a:off x="762000" y="3390900"/>
          <a:ext cx="15697200" cy="6172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924300">
                  <a:extLst>
                    <a:ext uri="{9D8B030D-6E8A-4147-A177-3AD203B41FA5}">
                      <a16:colId xmlns:a16="http://schemas.microsoft.com/office/drawing/2014/main" val="3435715560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138254154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1011463961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190584478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DM Sans" pitchFamily="2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DM Sans" pitchFamily="2" charset="0"/>
                        </a:rPr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DM Sans" pitchFamily="2" charset="0"/>
                        </a:rPr>
                        <a:t>Test Precision(%)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DM Sans" pitchFamily="2" charset="0"/>
                        </a:rPr>
                        <a:t>Test Recall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68588"/>
                  </a:ext>
                </a:extLst>
              </a:tr>
              <a:tr h="84011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DM Sans" pitchFamily="2" charset="0"/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M Sans" pitchFamily="2" charset="0"/>
                        </a:rPr>
                        <a:t>87.68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M Sans" pitchFamily="2" charset="0"/>
                        </a:rPr>
                        <a:t>83.79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M Sans" pitchFamily="2" charset="0"/>
                        </a:rPr>
                        <a:t>91.40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367174"/>
                  </a:ext>
                </a:extLst>
              </a:tr>
              <a:tr h="84011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DM Sans" pitchFamily="2" charset="0"/>
                        </a:rPr>
                        <a:t>K-Nearest Neighbors(KNN)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M Sans" pitchFamily="2" charset="0"/>
                        </a:rPr>
                        <a:t>98.98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M Sans" pitchFamily="2" charset="0"/>
                        </a:rPr>
                        <a:t>99.06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M Sans" pitchFamily="2" charset="0"/>
                        </a:rPr>
                        <a:t>98.67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969935"/>
                  </a:ext>
                </a:extLst>
              </a:tr>
              <a:tr h="82861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DM Sans" pitchFamily="2" charset="0"/>
                        </a:rPr>
                        <a:t>Naïve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M Sans" pitchFamily="2" charset="0"/>
                        </a:rPr>
                        <a:t>91.61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M Sans" pitchFamily="2" charset="0"/>
                        </a:rPr>
                        <a:t>92.53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M Sans" pitchFamily="2" charset="0"/>
                        </a:rPr>
                        <a:t>89.30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356619"/>
                  </a:ext>
                </a:extLst>
              </a:tr>
              <a:tr h="84011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DM Sans" pitchFamily="2" charset="0"/>
                        </a:rPr>
                        <a:t>Support Vector Machines(SVM)-l</a:t>
                      </a:r>
                    </a:p>
                    <a:p>
                      <a:r>
                        <a:rPr lang="en-US" sz="1800" dirty="0">
                          <a:latin typeface="DM Sans" pitchFamily="2" charset="0"/>
                        </a:rPr>
                        <a:t>Linear SVC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M Sans" pitchFamily="2" charset="0"/>
                        </a:rPr>
                        <a:t>97.02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M Sans" pitchFamily="2" charset="0"/>
                        </a:rPr>
                        <a:t>97.69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M Sans" pitchFamily="2" charset="0"/>
                        </a:rPr>
                        <a:t>95.92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711300"/>
                  </a:ext>
                </a:extLst>
              </a:tr>
              <a:tr h="84011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DM Sans" pitchFamily="2" charset="0"/>
                        </a:rP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M Sans" pitchFamily="2" charset="0"/>
                        </a:rPr>
                        <a:t>99.87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M Sans" pitchFamily="2" charset="0"/>
                        </a:rPr>
                        <a:t>99.82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M Sans" pitchFamily="2" charset="0"/>
                        </a:rPr>
                        <a:t>99.89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4926303"/>
                  </a:ext>
                </a:extLst>
              </a:tr>
              <a:tr h="84011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DM Sans" pitchFamily="2" charset="0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M Sans" pitchFamily="2" charset="0"/>
                        </a:rPr>
                        <a:t>99.87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M Sans" pitchFamily="2" charset="0"/>
                        </a:rPr>
                        <a:t>99.92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M Sans" pitchFamily="2" charset="0"/>
                        </a:rPr>
                        <a:t>99.80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967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455563" y="5587098"/>
            <a:ext cx="3574393" cy="3574393"/>
          </a:xfrm>
          <a:custGeom>
            <a:avLst/>
            <a:gdLst/>
            <a:ahLst/>
            <a:cxnLst/>
            <a:rect l="l" t="t" r="r" b="b"/>
            <a:pathLst>
              <a:path w="3574393" h="3574393">
                <a:moveTo>
                  <a:pt x="0" y="0"/>
                </a:moveTo>
                <a:lnTo>
                  <a:pt x="3574393" y="0"/>
                </a:lnTo>
                <a:lnTo>
                  <a:pt x="3574393" y="3574393"/>
                </a:lnTo>
                <a:lnTo>
                  <a:pt x="0" y="3574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679762" y="1439220"/>
            <a:ext cx="12928476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Measuring effect of PCA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47170" y="2666610"/>
            <a:ext cx="11193661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A random Forest Classifier is trained on the PCA-reduced data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28010" y="4713287"/>
            <a:ext cx="9897989" cy="1774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A random Forest  classifier achieves a test accuracy of 99.83% test precision of 99.2% and test recall of 99.71%.This shows that PCA  successfully reduced dimensionality while maintaining high performance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04800" y="3619500"/>
            <a:ext cx="5791204" cy="1954212"/>
            <a:chOff x="0" y="-66675"/>
            <a:chExt cx="614685" cy="275106"/>
          </a:xfrm>
        </p:grpSpPr>
        <p:sp>
          <p:nvSpPr>
            <p:cNvPr id="11" name="Freeform 11"/>
            <p:cNvSpPr/>
            <p:nvPr/>
          </p:nvSpPr>
          <p:spPr>
            <a:xfrm>
              <a:off x="0" y="-66675"/>
              <a:ext cx="614685" cy="275106"/>
            </a:xfrm>
            <a:custGeom>
              <a:avLst/>
              <a:gdLst/>
              <a:ahLst/>
              <a:cxnLst/>
              <a:rect l="l" t="t" r="r" b="b"/>
              <a:pathLst>
                <a:path w="489598" h="208431">
                  <a:moveTo>
                    <a:pt x="104215" y="0"/>
                  </a:moveTo>
                  <a:lnTo>
                    <a:pt x="385382" y="0"/>
                  </a:lnTo>
                  <a:cubicBezTo>
                    <a:pt x="442939" y="0"/>
                    <a:pt x="489598" y="46659"/>
                    <a:pt x="489598" y="104215"/>
                  </a:cubicBezTo>
                  <a:lnTo>
                    <a:pt x="489598" y="104215"/>
                  </a:lnTo>
                  <a:cubicBezTo>
                    <a:pt x="489598" y="161772"/>
                    <a:pt x="442939" y="208431"/>
                    <a:pt x="385382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541893" cy="275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Evaluation(PCA Random Forest)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7657A-2F4D-474E-51A4-9EF2F1EE1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71B699D-AF06-55B7-AA88-6B9E099D8D35}"/>
              </a:ext>
            </a:extLst>
          </p:cNvPr>
          <p:cNvSpPr/>
          <p:nvPr/>
        </p:nvSpPr>
        <p:spPr>
          <a:xfrm flipV="1">
            <a:off x="112698" y="4865772"/>
            <a:ext cx="18303952" cy="3551"/>
          </a:xfrm>
          <a:prstGeom prst="line">
            <a:avLst/>
          </a:prstGeom>
          <a:ln w="38100" cap="flat">
            <a:solidFill>
              <a:srgbClr val="9B6A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467DC45-8FCF-EF7B-8E1E-6A6D84A7F2D3}"/>
              </a:ext>
            </a:extLst>
          </p:cNvPr>
          <p:cNvGrpSpPr/>
          <p:nvPr/>
        </p:nvGrpSpPr>
        <p:grpSpPr>
          <a:xfrm>
            <a:off x="6276202" y="862891"/>
            <a:ext cx="4876800" cy="1435141"/>
            <a:chOff x="658578" y="-486286"/>
            <a:chExt cx="588882" cy="20843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05A872A-00AD-0102-06E6-152E21722F66}"/>
                </a:ext>
              </a:extLst>
            </p:cNvPr>
            <p:cNvSpPr/>
            <p:nvPr/>
          </p:nvSpPr>
          <p:spPr>
            <a:xfrm>
              <a:off x="692817" y="-486286"/>
              <a:ext cx="489598" cy="208431"/>
            </a:xfrm>
            <a:custGeom>
              <a:avLst/>
              <a:gdLst/>
              <a:ahLst/>
              <a:cxnLst/>
              <a:rect l="l" t="t" r="r" b="b"/>
              <a:pathLst>
                <a:path w="489598" h="208431">
                  <a:moveTo>
                    <a:pt x="104215" y="0"/>
                  </a:moveTo>
                  <a:lnTo>
                    <a:pt x="385382" y="0"/>
                  </a:lnTo>
                  <a:cubicBezTo>
                    <a:pt x="442939" y="0"/>
                    <a:pt x="489598" y="46659"/>
                    <a:pt x="489598" y="104215"/>
                  </a:cubicBezTo>
                  <a:lnTo>
                    <a:pt x="489598" y="104215"/>
                  </a:lnTo>
                  <a:cubicBezTo>
                    <a:pt x="489598" y="161772"/>
                    <a:pt x="442939" y="208431"/>
                    <a:pt x="385382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9CD4861-D762-0EE0-BB10-A45A1DA70EE2}"/>
                </a:ext>
              </a:extLst>
            </p:cNvPr>
            <p:cNvSpPr txBox="1"/>
            <p:nvPr/>
          </p:nvSpPr>
          <p:spPr>
            <a:xfrm>
              <a:off x="658578" y="-468507"/>
              <a:ext cx="588882" cy="1839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6. Neural Networks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24C4CFCA-8B87-074F-BF5A-DFE096067B18}"/>
              </a:ext>
            </a:extLst>
          </p:cNvPr>
          <p:cNvGrpSpPr/>
          <p:nvPr/>
        </p:nvGrpSpPr>
        <p:grpSpPr>
          <a:xfrm>
            <a:off x="3345851" y="5375189"/>
            <a:ext cx="838723" cy="838723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7CE3661-EB33-76A5-5896-FC7F8A3BBF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6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213D9E1-69FE-2504-583F-432B80F97EB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20D85409-4907-366C-1D8D-C04528C94AD7}"/>
              </a:ext>
            </a:extLst>
          </p:cNvPr>
          <p:cNvGrpSpPr/>
          <p:nvPr/>
        </p:nvGrpSpPr>
        <p:grpSpPr>
          <a:xfrm>
            <a:off x="9457959" y="5086602"/>
            <a:ext cx="838723" cy="838723"/>
            <a:chOff x="0" y="0"/>
            <a:chExt cx="812800" cy="8128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37B36E53-73DE-2BFA-7A4B-A533821F3A1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6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2DD0E364-A5D5-9496-4BE8-EDC75CA8232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BE918DEA-4FF8-0A3A-3C3B-A75777AC5855}"/>
              </a:ext>
            </a:extLst>
          </p:cNvPr>
          <p:cNvGrpSpPr/>
          <p:nvPr/>
        </p:nvGrpSpPr>
        <p:grpSpPr>
          <a:xfrm>
            <a:off x="15469691" y="5365004"/>
            <a:ext cx="838723" cy="838723"/>
            <a:chOff x="0" y="0"/>
            <a:chExt cx="812800" cy="8128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CB9CE00D-4473-F61A-00E1-6ED03F958CC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6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898A9AAD-4668-91F0-2056-F335B65D926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8" name="TextBox 28">
            <a:extLst>
              <a:ext uri="{FF2B5EF4-FFF2-40B4-BE49-F238E27FC236}">
                <a16:creationId xmlns:a16="http://schemas.microsoft.com/office/drawing/2014/main" id="{393E761B-1235-F3F5-4E90-E1F287AF081C}"/>
              </a:ext>
            </a:extLst>
          </p:cNvPr>
          <p:cNvSpPr txBox="1"/>
          <p:nvPr/>
        </p:nvSpPr>
        <p:spPr>
          <a:xfrm>
            <a:off x="4461048" y="3252290"/>
            <a:ext cx="9607253" cy="1325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A sequential </a:t>
            </a:r>
            <a:r>
              <a:rPr lang="en-US" sz="24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keras</a:t>
            </a: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model is built with dense multiple layers and dropout layers for regularization i.e. L1L2 for weights and L2 for bias and Activity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11DA4D5A-2FA7-F48D-4101-AE54A720EDE8}"/>
              </a:ext>
            </a:extLst>
          </p:cNvPr>
          <p:cNvSpPr txBox="1"/>
          <p:nvPr/>
        </p:nvSpPr>
        <p:spPr>
          <a:xfrm>
            <a:off x="1985500" y="6649745"/>
            <a:ext cx="3732273" cy="417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Model Compilation 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99C2A92E-19CE-9179-2004-BECAEF5C245B}"/>
              </a:ext>
            </a:extLst>
          </p:cNvPr>
          <p:cNvSpPr txBox="1"/>
          <p:nvPr/>
        </p:nvSpPr>
        <p:spPr>
          <a:xfrm>
            <a:off x="1725420" y="7451811"/>
            <a:ext cx="3240861" cy="2223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Uses the </a:t>
            </a:r>
            <a:r>
              <a:rPr lang="en-US" sz="24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adam</a:t>
            </a: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optimizer, Binary Cross Entropy loss and accuracy as a metric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1C4A0994-FD7B-A52A-0ADF-2A1A9C274D74}"/>
              </a:ext>
            </a:extLst>
          </p:cNvPr>
          <p:cNvSpPr txBox="1"/>
          <p:nvPr/>
        </p:nvSpPr>
        <p:spPr>
          <a:xfrm>
            <a:off x="8272606" y="6566876"/>
            <a:ext cx="3240861" cy="417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Model training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A78AA8F-5CDA-2AC9-9A08-EA851ABAE0F7}"/>
              </a:ext>
            </a:extLst>
          </p:cNvPr>
          <p:cNvSpPr txBox="1"/>
          <p:nvPr/>
        </p:nvSpPr>
        <p:spPr>
          <a:xfrm>
            <a:off x="7942929" y="7314481"/>
            <a:ext cx="3868781" cy="8770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The neural network is trained for 10 epochs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8FB2948F-EFBE-AC5A-7866-C0A02BC63E49}"/>
              </a:ext>
            </a:extLst>
          </p:cNvPr>
          <p:cNvSpPr txBox="1"/>
          <p:nvPr/>
        </p:nvSpPr>
        <p:spPr>
          <a:xfrm>
            <a:off x="14068301" y="6361692"/>
            <a:ext cx="3240861" cy="828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 dirty="0">
                <a:solidFill>
                  <a:srgbClr val="FFFFFF"/>
                </a:solidFill>
                <a:latin typeface="DM Sans" pitchFamily="2" charset="0"/>
                <a:ea typeface="DM Sans Bold"/>
                <a:cs typeface="DM Sans Bold"/>
                <a:sym typeface="DM Sans Bold"/>
              </a:rPr>
              <a:t>Training History Visualization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1561B928-50A0-1F46-E201-559AA2729DD4}"/>
              </a:ext>
            </a:extLst>
          </p:cNvPr>
          <p:cNvSpPr txBox="1"/>
          <p:nvPr/>
        </p:nvSpPr>
        <p:spPr>
          <a:xfrm>
            <a:off x="13454846" y="7314481"/>
            <a:ext cx="4029689" cy="1774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Plots of loss and accuracy over epochs for both training and validation sets are generated</a:t>
            </a:r>
          </a:p>
        </p:txBody>
      </p:sp>
      <p:sp>
        <p:nvSpPr>
          <p:cNvPr id="36" name="Freeform 56">
            <a:extLst>
              <a:ext uri="{FF2B5EF4-FFF2-40B4-BE49-F238E27FC236}">
                <a16:creationId xmlns:a16="http://schemas.microsoft.com/office/drawing/2014/main" id="{3B03F581-565C-1C46-3CAF-50722C2AB2E7}"/>
              </a:ext>
            </a:extLst>
          </p:cNvPr>
          <p:cNvSpPr/>
          <p:nvPr/>
        </p:nvSpPr>
        <p:spPr>
          <a:xfrm rot="5400000">
            <a:off x="2818309" y="3083121"/>
            <a:ext cx="1429736" cy="1429736"/>
          </a:xfrm>
          <a:custGeom>
            <a:avLst/>
            <a:gdLst/>
            <a:ahLst/>
            <a:cxnLst/>
            <a:rect l="l" t="t" r="r" b="b"/>
            <a:pathLst>
              <a:path w="1429736" h="1429736">
                <a:moveTo>
                  <a:pt x="0" y="0"/>
                </a:moveTo>
                <a:lnTo>
                  <a:pt x="1429736" y="0"/>
                </a:lnTo>
                <a:lnTo>
                  <a:pt x="1429736" y="1429736"/>
                </a:lnTo>
                <a:lnTo>
                  <a:pt x="0" y="1429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289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BD021-A775-1A95-D961-01F4FE255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EF6589E-7DE1-DD0F-98E4-44F9151AC432}"/>
              </a:ext>
            </a:extLst>
          </p:cNvPr>
          <p:cNvSpPr/>
          <p:nvPr/>
        </p:nvSpPr>
        <p:spPr>
          <a:xfrm flipV="1">
            <a:off x="112698" y="4865772"/>
            <a:ext cx="18303952" cy="3551"/>
          </a:xfrm>
          <a:prstGeom prst="line">
            <a:avLst/>
          </a:prstGeom>
          <a:ln w="38100" cap="flat">
            <a:solidFill>
              <a:srgbClr val="9B6A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40D2FDC4-1456-C8A6-C8CE-6487EED9D68B}"/>
              </a:ext>
            </a:extLst>
          </p:cNvPr>
          <p:cNvGrpSpPr/>
          <p:nvPr/>
        </p:nvGrpSpPr>
        <p:grpSpPr>
          <a:xfrm>
            <a:off x="6276201" y="862891"/>
            <a:ext cx="6677799" cy="1435141"/>
            <a:chOff x="658578" y="-486286"/>
            <a:chExt cx="576324" cy="20843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A269B1D-F10C-1E39-56EC-A302FC717C15}"/>
                </a:ext>
              </a:extLst>
            </p:cNvPr>
            <p:cNvSpPr/>
            <p:nvPr/>
          </p:nvSpPr>
          <p:spPr>
            <a:xfrm>
              <a:off x="692817" y="-486286"/>
              <a:ext cx="489598" cy="208431"/>
            </a:xfrm>
            <a:custGeom>
              <a:avLst/>
              <a:gdLst/>
              <a:ahLst/>
              <a:cxnLst/>
              <a:rect l="l" t="t" r="r" b="b"/>
              <a:pathLst>
                <a:path w="489598" h="208431">
                  <a:moveTo>
                    <a:pt x="104215" y="0"/>
                  </a:moveTo>
                  <a:lnTo>
                    <a:pt x="385382" y="0"/>
                  </a:lnTo>
                  <a:cubicBezTo>
                    <a:pt x="442939" y="0"/>
                    <a:pt x="489598" y="46659"/>
                    <a:pt x="489598" y="104215"/>
                  </a:cubicBezTo>
                  <a:lnTo>
                    <a:pt x="489598" y="104215"/>
                  </a:lnTo>
                  <a:cubicBezTo>
                    <a:pt x="489598" y="161772"/>
                    <a:pt x="442939" y="208431"/>
                    <a:pt x="385382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CE62D0C-B351-0BA6-955D-F6042D66CCE5}"/>
                </a:ext>
              </a:extLst>
            </p:cNvPr>
            <p:cNvSpPr txBox="1"/>
            <p:nvPr/>
          </p:nvSpPr>
          <p:spPr>
            <a:xfrm>
              <a:off x="658578" y="-468507"/>
              <a:ext cx="576324" cy="1839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7. Comparative Evaluation</a:t>
              </a:r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AC637FEE-89DC-0ACF-5085-4E87EF099EC3}"/>
              </a:ext>
            </a:extLst>
          </p:cNvPr>
          <p:cNvGrpSpPr/>
          <p:nvPr/>
        </p:nvGrpSpPr>
        <p:grpSpPr>
          <a:xfrm>
            <a:off x="2818309" y="6982393"/>
            <a:ext cx="838723" cy="838723"/>
            <a:chOff x="0" y="0"/>
            <a:chExt cx="812800" cy="8128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9BA71E10-DC40-2F3A-8173-05DBE1E9D42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6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3E17B470-995A-1600-9916-BEC0F710EE2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8" name="TextBox 28">
            <a:extLst>
              <a:ext uri="{FF2B5EF4-FFF2-40B4-BE49-F238E27FC236}">
                <a16:creationId xmlns:a16="http://schemas.microsoft.com/office/drawing/2014/main" id="{CB1CFEC4-64E3-8B26-4514-AD1C66E80531}"/>
              </a:ext>
            </a:extLst>
          </p:cNvPr>
          <p:cNvSpPr txBox="1"/>
          <p:nvPr/>
        </p:nvSpPr>
        <p:spPr>
          <a:xfrm>
            <a:off x="4461048" y="3252290"/>
            <a:ext cx="9607253" cy="1325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Bar plots are generated to visually compare the training and test accuracy, precision and recall across all classification models evaluated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C15FC72-846D-4E60-75F9-FAFD7606B6CB}"/>
              </a:ext>
            </a:extLst>
          </p:cNvPr>
          <p:cNvSpPr txBox="1"/>
          <p:nvPr/>
        </p:nvSpPr>
        <p:spPr>
          <a:xfrm>
            <a:off x="5052493" y="7230132"/>
            <a:ext cx="6677799" cy="1431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endParaRPr lang="en-US" sz="3000" b="1" dirty="0">
              <a:solidFill>
                <a:srgbClr val="FFFFFF"/>
              </a:solidFill>
              <a:latin typeface="DM Sans" pitchFamily="2" charset="0"/>
              <a:ea typeface="DM Sans Bold"/>
              <a:cs typeface="DM Sans Bold"/>
              <a:sym typeface="DM Sans Bold"/>
            </a:endParaRPr>
          </a:p>
        </p:txBody>
      </p:sp>
      <p:sp>
        <p:nvSpPr>
          <p:cNvPr id="36" name="Freeform 56">
            <a:extLst>
              <a:ext uri="{FF2B5EF4-FFF2-40B4-BE49-F238E27FC236}">
                <a16:creationId xmlns:a16="http://schemas.microsoft.com/office/drawing/2014/main" id="{93B3FAB0-5772-B9C7-9160-A439521CB1CD}"/>
              </a:ext>
            </a:extLst>
          </p:cNvPr>
          <p:cNvSpPr/>
          <p:nvPr/>
        </p:nvSpPr>
        <p:spPr>
          <a:xfrm rot="5400000">
            <a:off x="2818309" y="3083121"/>
            <a:ext cx="1429736" cy="1429736"/>
          </a:xfrm>
          <a:custGeom>
            <a:avLst/>
            <a:gdLst/>
            <a:ahLst/>
            <a:cxnLst/>
            <a:rect l="l" t="t" r="r" b="b"/>
            <a:pathLst>
              <a:path w="1429736" h="1429736">
                <a:moveTo>
                  <a:pt x="0" y="0"/>
                </a:moveTo>
                <a:lnTo>
                  <a:pt x="1429736" y="0"/>
                </a:lnTo>
                <a:lnTo>
                  <a:pt x="1429736" y="1429736"/>
                </a:lnTo>
                <a:lnTo>
                  <a:pt x="0" y="1429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id="{3A14C831-94C4-0818-4DA4-A006B17B8FD3}"/>
              </a:ext>
            </a:extLst>
          </p:cNvPr>
          <p:cNvGrpSpPr/>
          <p:nvPr/>
        </p:nvGrpSpPr>
        <p:grpSpPr>
          <a:xfrm>
            <a:off x="5925774" y="5375369"/>
            <a:ext cx="6677799" cy="1435141"/>
            <a:chOff x="658578" y="-486286"/>
            <a:chExt cx="576324" cy="208431"/>
          </a:xfrm>
        </p:grpSpPr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52C14EE4-50F4-29C9-4B71-C38D3E4A016F}"/>
                </a:ext>
              </a:extLst>
            </p:cNvPr>
            <p:cNvSpPr/>
            <p:nvPr/>
          </p:nvSpPr>
          <p:spPr>
            <a:xfrm>
              <a:off x="692817" y="-486286"/>
              <a:ext cx="489598" cy="208431"/>
            </a:xfrm>
            <a:custGeom>
              <a:avLst/>
              <a:gdLst/>
              <a:ahLst/>
              <a:cxnLst/>
              <a:rect l="l" t="t" r="r" b="b"/>
              <a:pathLst>
                <a:path w="489598" h="208431">
                  <a:moveTo>
                    <a:pt x="104215" y="0"/>
                  </a:moveTo>
                  <a:lnTo>
                    <a:pt x="385382" y="0"/>
                  </a:lnTo>
                  <a:cubicBezTo>
                    <a:pt x="442939" y="0"/>
                    <a:pt x="489598" y="46659"/>
                    <a:pt x="489598" y="104215"/>
                  </a:cubicBezTo>
                  <a:lnTo>
                    <a:pt x="489598" y="104215"/>
                  </a:lnTo>
                  <a:cubicBezTo>
                    <a:pt x="489598" y="161772"/>
                    <a:pt x="442939" y="208431"/>
                    <a:pt x="385382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8">
              <a:extLst>
                <a:ext uri="{FF2B5EF4-FFF2-40B4-BE49-F238E27FC236}">
                  <a16:creationId xmlns:a16="http://schemas.microsoft.com/office/drawing/2014/main" id="{5E89A98F-999D-39FE-4BE0-88CE404FFFB7}"/>
                </a:ext>
              </a:extLst>
            </p:cNvPr>
            <p:cNvSpPr txBox="1"/>
            <p:nvPr/>
          </p:nvSpPr>
          <p:spPr>
            <a:xfrm>
              <a:off x="658578" y="-468507"/>
              <a:ext cx="576324" cy="1839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8. Deployment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3BDCB01-1150-8157-9CC0-0FF4DA1842DF}"/>
              </a:ext>
            </a:extLst>
          </p:cNvPr>
          <p:cNvSpPr txBox="1"/>
          <p:nvPr/>
        </p:nvSpPr>
        <p:spPr>
          <a:xfrm>
            <a:off x="3878672" y="7230132"/>
            <a:ext cx="9218140" cy="3264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Random Forest Classifier is integrated into a Flask API and a streamlit dashboard is provided for a user-friendly real-time monitoring and visualization of a network traffic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i="1" dirty="0">
                <a:latin typeface="DM Sans" pitchFamily="2" charset="0"/>
              </a:rPr>
              <a:t>Live Demo</a:t>
            </a:r>
            <a:endParaRPr lang="en-US" i="1" dirty="0">
              <a:latin typeface="DM Sans" pitchFamily="2" charset="0"/>
            </a:endParaRPr>
          </a:p>
          <a:p>
            <a:r>
              <a:rPr lang="en-US" i="1" dirty="0">
                <a:latin typeface="DM Sans" pitchFamily="2" charset="0"/>
              </a:rPr>
              <a:t>- </a:t>
            </a:r>
            <a:r>
              <a:rPr lang="en-US" b="1" i="1" dirty="0">
                <a:latin typeface="DM Sans" pitchFamily="2" charset="0"/>
              </a:rPr>
              <a:t>Dashboard</a:t>
            </a:r>
            <a:r>
              <a:rPr lang="en-US" i="1" dirty="0">
                <a:latin typeface="DM Sans" pitchFamily="2" charset="0"/>
              </a:rPr>
              <a:t> https://namatovu-christine-kjcaxsyrtwm7t7vkqp9jat.streamlit.app</a:t>
            </a:r>
          </a:p>
          <a:p>
            <a:r>
              <a:rPr lang="en-US" i="1" dirty="0">
                <a:latin typeface="DM Sans" pitchFamily="2" charset="0"/>
              </a:rPr>
              <a:t>- </a:t>
            </a:r>
            <a:r>
              <a:rPr lang="en-US" b="1" i="1" dirty="0">
                <a:latin typeface="DM Sans" pitchFamily="2" charset="0"/>
              </a:rPr>
              <a:t>API Endpoint</a:t>
            </a:r>
            <a:r>
              <a:rPr lang="en-US" i="1" dirty="0">
                <a:latin typeface="DM Sans" pitchFamily="2" charset="0"/>
              </a:rPr>
              <a:t>: https://ids-api-33k6.onrender.com</a:t>
            </a:r>
          </a:p>
          <a:p>
            <a:pPr algn="ctr">
              <a:lnSpc>
                <a:spcPts val="3499"/>
              </a:lnSpc>
            </a:pPr>
            <a:endParaRPr lang="en-US" sz="1800" dirty="0">
              <a:solidFill>
                <a:srgbClr val="BFA8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4093058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181600" y="1093722"/>
            <a:ext cx="9228906" cy="137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99"/>
              </a:lnSpc>
            </a:pPr>
            <a:r>
              <a:rPr lang="en-US" sz="99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36291" y="4610100"/>
            <a:ext cx="13215417" cy="3206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2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The project successfully demonstrated various ML models for NIDS</a:t>
            </a:r>
          </a:p>
          <a:p>
            <a:pPr marL="457200" indent="-457200" algn="l">
              <a:lnSpc>
                <a:spcPts val="42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000" dirty="0">
              <a:solidFill>
                <a:srgbClr val="BFA8E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indent="-457200" algn="l">
              <a:lnSpc>
                <a:spcPts val="42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000" b="1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Top performers</a:t>
            </a:r>
            <a:r>
              <a:rPr lang="en-US" sz="30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: Ensemble methods(Random Forest, Decision Tree and KNN excelled in classification</a:t>
            </a:r>
          </a:p>
          <a:p>
            <a:pPr marL="457200" indent="-457200" algn="l">
              <a:lnSpc>
                <a:spcPts val="42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PCA proved effective in maintaining performance with fewer features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BFA8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671</Words>
  <Application>Microsoft Office PowerPoint</Application>
  <PresentationFormat>Custom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Wingdings</vt:lpstr>
      <vt:lpstr>Calibri</vt:lpstr>
      <vt:lpstr>Arial</vt:lpstr>
      <vt:lpstr>DM Sans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Artificial Intelligence Seminar Slides</dc:title>
  <dc:creator>HP</dc:creator>
  <cp:lastModifiedBy>wasswa cosma</cp:lastModifiedBy>
  <cp:revision>4</cp:revision>
  <dcterms:created xsi:type="dcterms:W3CDTF">2006-08-16T00:00:00Z</dcterms:created>
  <dcterms:modified xsi:type="dcterms:W3CDTF">2025-12-07T13:22:17Z</dcterms:modified>
  <dc:identifier>DAG6xKESXEQ</dc:identifier>
</cp:coreProperties>
</file>